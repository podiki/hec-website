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-36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C3255-7409-FD4C-83CF-C3BA32FF7C2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EFAAF-678B-B049-9A2C-90B231A4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14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Each voting member shall be entitled</a:t>
            </a:r>
            <a:r>
              <a:rPr lang="en-US" baseline="0" dirty="0" smtClean="0"/>
              <a:t> to one vote on any question brought before the membership of HEC. Business members shall be entitled to one vote per business and must assign a </a:t>
            </a:r>
            <a:r>
              <a:rPr lang="en-US" baseline="0" dirty="0" err="1" smtClean="0"/>
              <a:t>disignee</a:t>
            </a:r>
            <a:r>
              <a:rPr lang="en-US" baseline="0" dirty="0" smtClean="0"/>
              <a:t> to represent said business. The treasure of HEC shall certify that the voting member is an attending member or general member before the voting member shall be eligible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5EFAAF-678B-B049-9A2C-90B231A474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3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5EFAAF-678B-B049-9A2C-90B231A474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84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5EFAAF-678B-B049-9A2C-90B231A474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47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5EFAAF-678B-B049-9A2C-90B231A474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35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D8DEE8-7A87-4E01-8ADE-4C49CDD43F74}" type="datetime1">
              <a:rPr lang="en-US" smtClean="0"/>
              <a:pPr/>
              <a:t>6/25/25</a:t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/>
            <a:fld id="{F7886C9C-DC18-4195-8FD5-A50AA931D41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424-F111-43CB-9C75-D52325012943}" type="datetime1">
              <a:rPr lang="en-US" smtClean="0"/>
              <a:pPr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A8BBF0-342D-409A-9C0A-B1B451E92883}" type="datetime1">
              <a:rPr lang="en-US" smtClean="0"/>
              <a:pPr/>
              <a:t>6/25/25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r"/>
            <a:fld id="{F7886C9C-DC18-4195-8FD5-A50AA931D41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A190-4BDC-4D39-B5BB-A14B3E8B1B3D}" type="datetime1">
              <a:rPr lang="en-US" smtClean="0"/>
              <a:pPr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52F2-9B11-4FC0-9217-7D20B3AC9849}" type="datetime1">
              <a:rPr lang="en-US" smtClean="0"/>
              <a:pPr/>
              <a:t>6/25/25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3737-8506-438E-ABC0-0BE7E06DCCA6}" type="datetime1">
              <a:rPr lang="en-US" smtClean="0"/>
              <a:pPr/>
              <a:t>6/25/25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58AA-1C84-40C9-BFEE-631CCB17636C}" type="datetime1">
              <a:rPr lang="en-US" smtClean="0"/>
              <a:pPr/>
              <a:t>6/25/25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542C1-4E96-413B-B72E-6C4B39D85C9D}" type="datetime1">
              <a:rPr lang="en-US" smtClean="0"/>
              <a:pPr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7886C9C-DC18-4195-8FD5-A50AA931D4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2AA2-D442-471A-9D69-80392E1E581D}" type="datetime1">
              <a:rPr lang="en-US" smtClean="0"/>
              <a:pPr/>
              <a:t>6/25/25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9461-E3EB-40CD-B93F-E5CBBBD8E0BA}" type="datetimeFigureOut">
              <a:rPr lang="en-US" smtClean="0"/>
              <a:pPr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543-9AAE-4E9F-B28C-4FCCFD07D4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8FA3-38AD-400D-A4D2-18E8EF129E5F}" type="datetime1">
              <a:rPr lang="en-US" smtClean="0"/>
              <a:pPr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7886C9C-DC18-4195-8FD5-A50AA931D41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EC43563C-D9B3-4432-B336-144C997D6215}" type="datetime1">
              <a:rPr lang="en-US" smtClean="0"/>
              <a:pPr/>
              <a:t>6/25/25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886C9C-DC18-4195-8FD5-A50AA931D419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hsonline.org/programs/tree-programs/get-a-tre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4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Community Meeting </a:t>
            </a:r>
          </a:p>
          <a:p>
            <a:r>
              <a:rPr lang="en-US" dirty="0" smtClean="0"/>
              <a:t>6/</a:t>
            </a:r>
            <a:r>
              <a:rPr lang="en-US" dirty="0" smtClean="0"/>
              <a:t>26/</a:t>
            </a:r>
            <a:r>
              <a:rPr lang="en-US" dirty="0" smtClean="0"/>
              <a:t>2025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Hawthorne Empowerment Coalition</a:t>
            </a:r>
            <a:endParaRPr lang="en-US" dirty="0"/>
          </a:p>
        </p:txBody>
      </p:sp>
      <p:pic>
        <p:nvPicPr>
          <p:cNvPr id="6" name="Picture 5" descr="IMG_2029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13594" y="4492985"/>
            <a:ext cx="2391568" cy="179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20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700" dirty="0" smtClean="0"/>
              <a:t>Co-Presidents: Daphne Watkins and Greg LaBier</a:t>
            </a:r>
          </a:p>
          <a:p>
            <a:endParaRPr lang="en-US" sz="2700" dirty="0" smtClean="0"/>
          </a:p>
          <a:p>
            <a:r>
              <a:rPr lang="en-US" sz="2700" dirty="0" smtClean="0"/>
              <a:t>Co-Vice Presidents: Gwendolyn Toler and Judith Thomas</a:t>
            </a:r>
          </a:p>
          <a:p>
            <a:endParaRPr lang="en-US" sz="2700" dirty="0" smtClean="0"/>
          </a:p>
          <a:p>
            <a:r>
              <a:rPr lang="en-US" sz="2700" dirty="0" smtClean="0"/>
              <a:t>Treasurer: Ann </a:t>
            </a:r>
            <a:r>
              <a:rPr lang="en-US" sz="2700" dirty="0" err="1" smtClean="0"/>
              <a:t>Lastuvka</a:t>
            </a:r>
            <a:r>
              <a:rPr lang="en-US" sz="2700" dirty="0" smtClean="0"/>
              <a:t> </a:t>
            </a:r>
          </a:p>
          <a:p>
            <a:endParaRPr lang="en-US" sz="2700" dirty="0" smtClean="0"/>
          </a:p>
          <a:p>
            <a:r>
              <a:rPr lang="en-US" sz="2700" dirty="0" smtClean="0"/>
              <a:t>Recording Secretary: Valerie King</a:t>
            </a:r>
          </a:p>
          <a:p>
            <a:endParaRPr lang="en-US" sz="2700" dirty="0" smtClean="0"/>
          </a:p>
          <a:p>
            <a:r>
              <a:rPr lang="en-US" sz="2700" dirty="0" smtClean="0"/>
              <a:t>Correspondence Secretary: Jacob </a:t>
            </a:r>
            <a:r>
              <a:rPr lang="en-US" sz="2700" dirty="0" err="1" smtClean="0"/>
              <a:t>Goldfischer</a:t>
            </a:r>
            <a:endParaRPr lang="en-US" sz="2700" dirty="0" smtClean="0"/>
          </a:p>
          <a:p>
            <a:endParaRPr lang="en-US" sz="2700" dirty="0" smtClean="0"/>
          </a:p>
          <a:p>
            <a:r>
              <a:rPr lang="en-US" sz="2700" dirty="0" smtClean="0"/>
              <a:t>Communications Chair: John </a:t>
            </a:r>
            <a:r>
              <a:rPr lang="en-US" sz="2700" dirty="0" err="1" smtClean="0"/>
              <a:t>Kehayias</a:t>
            </a:r>
            <a:r>
              <a:rPr lang="en-US" sz="2700" dirty="0" smtClean="0"/>
              <a:t> </a:t>
            </a:r>
          </a:p>
          <a:p>
            <a:endParaRPr lang="en-US" sz="2700" dirty="0" smtClean="0"/>
          </a:p>
          <a:p>
            <a:r>
              <a:rPr lang="en-US" sz="2700" dirty="0" smtClean="0"/>
              <a:t>Arts Committee Chair: Kelly </a:t>
            </a:r>
            <a:r>
              <a:rPr lang="en-US" sz="2700" dirty="0" err="1" smtClean="0"/>
              <a:t>Korzun</a:t>
            </a:r>
            <a:r>
              <a:rPr lang="en-US" sz="2700" dirty="0" smtClean="0"/>
              <a:t> </a:t>
            </a:r>
          </a:p>
          <a:p>
            <a:endParaRPr lang="en-US" sz="2700" dirty="0" smtClean="0"/>
          </a:p>
          <a:p>
            <a:r>
              <a:rPr lang="en-US" sz="2700" dirty="0" smtClean="0"/>
              <a:t>Education Committee Chair: Gabby Thomas </a:t>
            </a:r>
          </a:p>
          <a:p>
            <a:endParaRPr lang="en-US" sz="2700" dirty="0" smtClean="0"/>
          </a:p>
          <a:p>
            <a:r>
              <a:rPr lang="en-US" sz="2700" dirty="0" smtClean="0"/>
              <a:t>Zoning Committee Chair: Ann </a:t>
            </a:r>
            <a:r>
              <a:rPr lang="en-US" sz="2700" dirty="0" err="1" smtClean="0"/>
              <a:t>Lastuvka</a:t>
            </a:r>
            <a:r>
              <a:rPr lang="en-US" sz="2700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Interim 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80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Financial Report</a:t>
            </a:r>
          </a:p>
          <a:p>
            <a:endParaRPr lang="en-US" sz="1600" dirty="0"/>
          </a:p>
          <a:p>
            <a:r>
              <a:rPr lang="en-US" sz="1600" dirty="0" smtClean="0"/>
              <a:t>Bylaws </a:t>
            </a:r>
          </a:p>
          <a:p>
            <a:endParaRPr lang="en-US" sz="1600" dirty="0"/>
          </a:p>
          <a:p>
            <a:r>
              <a:rPr lang="en-US" sz="1600" dirty="0" smtClean="0"/>
              <a:t>Hawthorne Tree Cover Initiative </a:t>
            </a:r>
          </a:p>
          <a:p>
            <a:endParaRPr lang="en-US" sz="1600" dirty="0"/>
          </a:p>
          <a:p>
            <a:r>
              <a:rPr lang="en-US" sz="1600" dirty="0" smtClean="0"/>
              <a:t>Arts Committee Update</a:t>
            </a:r>
          </a:p>
          <a:p>
            <a:endParaRPr lang="en-US" sz="1600" dirty="0"/>
          </a:p>
          <a:p>
            <a:r>
              <a:rPr lang="en-US" sz="1600" dirty="0" smtClean="0"/>
              <a:t>Upcoming Events</a:t>
            </a:r>
          </a:p>
          <a:p>
            <a:endParaRPr lang="en-US" sz="1600" dirty="0"/>
          </a:p>
          <a:p>
            <a:r>
              <a:rPr lang="en-US" sz="1600" dirty="0" smtClean="0"/>
              <a:t>Zoning Committee Update</a:t>
            </a:r>
          </a:p>
          <a:p>
            <a:endParaRPr lang="en-US" sz="1600" dirty="0"/>
          </a:p>
          <a:p>
            <a:r>
              <a:rPr lang="en-US" sz="1600" dirty="0" smtClean="0"/>
              <a:t>Guest Speaker: Aaron Davis from </a:t>
            </a:r>
          </a:p>
          <a:p>
            <a:pPr marL="45720" indent="0">
              <a:buNone/>
            </a:pPr>
            <a:r>
              <a:rPr lang="en-US" sz="1600" dirty="0" smtClean="0"/>
              <a:t>Representative Waxman’s Office will </a:t>
            </a:r>
          </a:p>
          <a:p>
            <a:pPr marL="45720" indent="0">
              <a:buNone/>
            </a:pPr>
            <a:r>
              <a:rPr lang="en-US" sz="1600" dirty="0" smtClean="0"/>
              <a:t>give update on SEPTA Funding Situation </a:t>
            </a:r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pic>
        <p:nvPicPr>
          <p:cNvPr id="4" name="Picture 3" descr="Screen Shot 2025-06-25 at 11.07.4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520" y="4967018"/>
            <a:ext cx="2156241" cy="152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8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We have now gained access to HEC’s Bank Account from previous board president as of 6/20/2025. </a:t>
            </a:r>
          </a:p>
          <a:p>
            <a:endParaRPr lang="en-US" dirty="0" smtClean="0"/>
          </a:p>
          <a:p>
            <a:r>
              <a:rPr lang="en-US" dirty="0" smtClean="0"/>
              <a:t>Cash Position as of 6/25/2025</a:t>
            </a:r>
          </a:p>
          <a:p>
            <a:pPr lvl="1"/>
            <a:r>
              <a:rPr lang="en-US" dirty="0" smtClean="0"/>
              <a:t>Checking: $10,283.34</a:t>
            </a:r>
          </a:p>
          <a:p>
            <a:pPr lvl="1"/>
            <a:r>
              <a:rPr lang="en-US" dirty="0" smtClean="0"/>
              <a:t>Escrow: $63,256.30</a:t>
            </a: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r>
              <a:rPr lang="en-US" dirty="0" smtClean="0"/>
              <a:t>Recent </a:t>
            </a:r>
            <a:r>
              <a:rPr lang="en-US" dirty="0" smtClean="0"/>
              <a:t>Expenses in Last Month: 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1. Renewed HEC’s contract with ACAM (street cleaning services). $1230 Weekly. Paid $6,150 on 5/29/2025. </a:t>
            </a:r>
          </a:p>
          <a:p>
            <a:pPr lvl="1"/>
            <a:r>
              <a:rPr lang="en-US" dirty="0" smtClean="0"/>
              <a:t>2. $</a:t>
            </a:r>
            <a:r>
              <a:rPr lang="en-US" dirty="0" smtClean="0"/>
              <a:t>10,000 (?) </a:t>
            </a:r>
            <a:r>
              <a:rPr lang="en-US" dirty="0" smtClean="0"/>
              <a:t>recently paid to recreation center for Ridgeway Park Improvements (paid out previously on 5/27/2025 by prior board president)</a:t>
            </a:r>
          </a:p>
          <a:p>
            <a:pPr lvl="1"/>
            <a:r>
              <a:rPr lang="en-US" dirty="0" smtClean="0"/>
              <a:t>3. Community Organizer: Stan Horowitz. 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25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Income YTD</a:t>
            </a:r>
          </a:p>
          <a:p>
            <a:pPr lvl="1"/>
            <a:r>
              <a:rPr lang="en-US" dirty="0" smtClean="0"/>
              <a:t>No income has been brought in this year so far, but we are owed $65,000 from Post Brothers and Benchmark, with new bank access and </a:t>
            </a:r>
            <a:r>
              <a:rPr lang="en-US" dirty="0" err="1" smtClean="0"/>
              <a:t>Quickbooks</a:t>
            </a:r>
            <a:r>
              <a:rPr lang="en-US" dirty="0" smtClean="0"/>
              <a:t>, will send invoices shortly. </a:t>
            </a:r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Expenses YTD: $38,278.16</a:t>
            </a:r>
          </a:p>
          <a:p>
            <a:pPr lvl="1"/>
            <a:r>
              <a:rPr lang="en-US" dirty="0" smtClean="0"/>
              <a:t>Charitable Disbursements: $31,200</a:t>
            </a:r>
          </a:p>
          <a:p>
            <a:pPr lvl="2"/>
            <a:r>
              <a:rPr lang="en-US" dirty="0" smtClean="0"/>
              <a:t>Academic Scholarships: $3,000</a:t>
            </a:r>
          </a:p>
          <a:p>
            <a:pPr lvl="2"/>
            <a:r>
              <a:rPr lang="en-US" dirty="0" smtClean="0"/>
              <a:t>Sidewalk Sweeping: $6,200</a:t>
            </a:r>
          </a:p>
          <a:p>
            <a:pPr lvl="2"/>
            <a:r>
              <a:rPr lang="en-US" dirty="0" smtClean="0"/>
              <a:t>Jazz in the Park: $7,000</a:t>
            </a:r>
          </a:p>
          <a:p>
            <a:pPr lvl="2"/>
            <a:r>
              <a:rPr lang="en-US" dirty="0" smtClean="0"/>
              <a:t>Fanny Jackson Auditorium Improvements: $5,000</a:t>
            </a:r>
          </a:p>
          <a:p>
            <a:pPr lvl="2"/>
            <a:r>
              <a:rPr lang="en-US" dirty="0" smtClean="0"/>
              <a:t>Ridgeway Park Improvements: $10,000</a:t>
            </a:r>
          </a:p>
          <a:p>
            <a:pPr lvl="1"/>
            <a:r>
              <a:rPr lang="en-US" dirty="0" smtClean="0"/>
              <a:t>Community Organizer: $2,500</a:t>
            </a:r>
          </a:p>
          <a:p>
            <a:pPr lvl="1"/>
            <a:r>
              <a:rPr lang="en-US" dirty="0" smtClean="0"/>
              <a:t>Directors and Officers Liability Insurance: $655</a:t>
            </a:r>
          </a:p>
          <a:p>
            <a:pPr lvl="1"/>
            <a:r>
              <a:rPr lang="en-US" dirty="0" smtClean="0"/>
              <a:t>Community Meeting Mailings: $4,000</a:t>
            </a:r>
          </a:p>
          <a:p>
            <a:pPr lvl="1"/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4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RCO Registration with Philadelphia City Planning Commission: June 1</a:t>
            </a:r>
            <a:r>
              <a:rPr lang="en-US" baseline="30000" dirty="0" smtClean="0"/>
              <a:t>st</a:t>
            </a:r>
            <a:r>
              <a:rPr lang="en-US" dirty="0"/>
              <a:t> </a:t>
            </a:r>
            <a:r>
              <a:rPr lang="en-US" dirty="0" smtClean="0"/>
              <a:t>– June 30</a:t>
            </a:r>
            <a:r>
              <a:rPr lang="en-US" baseline="30000" dirty="0" smtClean="0"/>
              <a:t>th</a:t>
            </a:r>
            <a:r>
              <a:rPr lang="en-US" dirty="0" smtClean="0"/>
              <a:t>. To be done this week. </a:t>
            </a:r>
          </a:p>
          <a:p>
            <a:endParaRPr lang="en-US" dirty="0" smtClean="0"/>
          </a:p>
          <a:p>
            <a:r>
              <a:rPr lang="en-US" dirty="0" smtClean="0"/>
              <a:t>P.O. Box has now been set up. </a:t>
            </a:r>
          </a:p>
          <a:p>
            <a:endParaRPr lang="en-US" dirty="0"/>
          </a:p>
          <a:p>
            <a:r>
              <a:rPr lang="en-US" dirty="0" smtClean="0"/>
              <a:t>Completed annual report to the state. </a:t>
            </a:r>
          </a:p>
          <a:p>
            <a:endParaRPr lang="en-US" dirty="0"/>
          </a:p>
          <a:p>
            <a:r>
              <a:rPr lang="en-US" dirty="0" smtClean="0"/>
              <a:t>In process of renewing our RCO status</a:t>
            </a:r>
          </a:p>
          <a:p>
            <a:endParaRPr lang="en-US" dirty="0"/>
          </a:p>
          <a:p>
            <a:r>
              <a:rPr lang="en-US" dirty="0" smtClean="0"/>
              <a:t>Daphne Watkins and Ann </a:t>
            </a:r>
            <a:r>
              <a:rPr lang="en-US" dirty="0" err="1" smtClean="0"/>
              <a:t>Lastuvka</a:t>
            </a:r>
            <a:r>
              <a:rPr lang="en-US" dirty="0" smtClean="0"/>
              <a:t> attended Crosstown Coalition’s Annual Meeting.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Updates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46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We need updated bylaws. This should be a priority for our RCO. </a:t>
            </a:r>
          </a:p>
          <a:p>
            <a:endParaRPr lang="en-US" dirty="0" smtClean="0"/>
          </a:p>
          <a:p>
            <a:r>
              <a:rPr lang="en-US" dirty="0" smtClean="0"/>
              <a:t>Should be a collaborative effort between interim board and community members. </a:t>
            </a:r>
          </a:p>
          <a:p>
            <a:endParaRPr lang="en-US" dirty="0" smtClean="0"/>
          </a:p>
          <a:p>
            <a:r>
              <a:rPr lang="en-US" dirty="0" smtClean="0"/>
              <a:t>Previous Bylaws are from 2002. </a:t>
            </a:r>
          </a:p>
          <a:p>
            <a:endParaRPr lang="en-US" dirty="0" smtClean="0"/>
          </a:p>
          <a:p>
            <a:r>
              <a:rPr lang="en-US" dirty="0" smtClean="0"/>
              <a:t>Previous Bylaws had two voting members -</a:t>
            </a:r>
            <a:r>
              <a:rPr lang="en-US" dirty="0" smtClean="0"/>
              <a:t>&gt;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1. An attending member is a voting member who has attended at least 5 general meetings within a year and is eligible to vote on all community issues, in the annual election and on financial matters of HEC. 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2. A general member is a voting member eligible to vote on all community issues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3. Also had 5 different membership classes (Individual, Seniors/Disabled, Individual Patron, Small Business, Medium Business, Large Business</a:t>
            </a:r>
          </a:p>
          <a:p>
            <a:pPr marL="365760" lvl="1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Bylaws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59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/>
          </a:p>
          <a:p>
            <a:r>
              <a:rPr lang="en-US" dirty="0" smtClean="0"/>
              <a:t>Quorum</a:t>
            </a:r>
            <a:r>
              <a:rPr lang="en-US" dirty="0" smtClean="0"/>
              <a:t>: A quorum at any given meeting of the membership shall consist of one-half of members; either present or represented by written proxy.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boundaries of the Hawthorne Community -&gt; are defined as area inclusive from 11</a:t>
            </a:r>
            <a:r>
              <a:rPr lang="en-US" baseline="30000" dirty="0" smtClean="0"/>
              <a:t>th</a:t>
            </a:r>
            <a:r>
              <a:rPr lang="en-US" dirty="0" smtClean="0"/>
              <a:t> Street to Broad Street and from South Street to Washington Avenue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Bylaws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33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Proposed </a:t>
            </a:r>
            <a:r>
              <a:rPr lang="en-US" dirty="0" smtClean="0"/>
              <a:t>Changes (Up for Discussion)</a:t>
            </a:r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1. Simplify voting members into one group. Requirements are proof of address within Hawthorne Community Boundaries and attendance of at least </a:t>
            </a:r>
            <a:r>
              <a:rPr lang="en-US" dirty="0" smtClean="0"/>
              <a:t>3 </a:t>
            </a:r>
            <a:r>
              <a:rPr lang="en-US" dirty="0" smtClean="0"/>
              <a:t>community </a:t>
            </a:r>
            <a:r>
              <a:rPr lang="en-US" dirty="0" smtClean="0"/>
              <a:t>meetings </a:t>
            </a:r>
            <a:r>
              <a:rPr lang="en-US" dirty="0" smtClean="0"/>
              <a:t>in past </a:t>
            </a:r>
            <a:r>
              <a:rPr lang="en-US" dirty="0" smtClean="0"/>
              <a:t>12 </a:t>
            </a:r>
            <a:r>
              <a:rPr lang="en-US" dirty="0" smtClean="0"/>
              <a:t>months. </a:t>
            </a:r>
            <a:endParaRPr lang="en-US" dirty="0" smtClean="0"/>
          </a:p>
          <a:p>
            <a:pPr marL="36576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2. Quorum shall consist of majority of voting members in attendance at any community meeting</a:t>
            </a:r>
            <a:r>
              <a:rPr lang="en-US" dirty="0" smtClean="0"/>
              <a:t>.</a:t>
            </a:r>
          </a:p>
          <a:p>
            <a:pPr marL="365760" lvl="1" indent="0">
              <a:buNone/>
            </a:pPr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3. Remove membership classes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Bylaws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395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Goal: Increase Tree Cover in Hawthorne Neighborhood</a:t>
            </a:r>
          </a:p>
          <a:p>
            <a:pPr marL="4572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Benefits: Studies highlight the role of trees in mitigating urban heat island effect, improving air quality, reducing storm-water runoff, and providing habitat for wildlife.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Philadelphia has a goal to increase tree canopy cover to 30% by 2025 </a:t>
            </a:r>
          </a:p>
          <a:p>
            <a:pPr marL="45720" indent="0">
              <a:buNone/>
            </a:pP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Meeting was held on 6/5/2026 with HEC Co-President Greg LaBier and Louis Bartholomew from QVNA (Queen Village Neighbors Association</a:t>
            </a:r>
            <a:r>
              <a:rPr lang="en-US" dirty="0" smtClean="0"/>
              <a:t>)</a:t>
            </a:r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Two planting seasons for city trees: November and April. We will be preparing for next April season as application windows have already closed for November. </a:t>
            </a:r>
          </a:p>
          <a:p>
            <a:endParaRPr lang="en-US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Hawthorne Tree Cover Initiative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552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Need door to door volunteers to help homeowners fill out tree applications. </a:t>
            </a:r>
          </a:p>
          <a:p>
            <a:endParaRPr lang="en-US" dirty="0"/>
          </a:p>
          <a:p>
            <a:r>
              <a:rPr lang="en-US" dirty="0" smtClean="0"/>
              <a:t>Philadelphia </a:t>
            </a:r>
            <a:r>
              <a:rPr lang="en-US" dirty="0"/>
              <a:t>Horticultural Society -&gt; </a:t>
            </a:r>
            <a:r>
              <a:rPr lang="en-US" dirty="0">
                <a:hlinkClick r:id="rId3"/>
              </a:rPr>
              <a:t>https://phsonline.org/programs/tree-programs/get-a-</a:t>
            </a:r>
            <a:r>
              <a:rPr lang="en-US" dirty="0" smtClean="0">
                <a:hlinkClick r:id="rId3"/>
              </a:rPr>
              <a:t>tree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New trees need weekly watering for 6 months after planting. They require ~10 gallons of water a week. Would be cost to homeowner for initial 6 months. We could explore HEC subsidy to homeowners to cover water costs for first 6 months. </a:t>
            </a:r>
          </a:p>
          <a:p>
            <a:endParaRPr lang="en-US" dirty="0"/>
          </a:p>
          <a:p>
            <a:r>
              <a:rPr lang="en-US" dirty="0" smtClean="0"/>
              <a:t>First year goal: 10-20 neighbors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Hawthorne Tree Cover Initiative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071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locations to target: Empty Tree Wells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Hawthorne Tree cover Initiative</a:t>
            </a:r>
            <a:endParaRPr lang="en-US" dirty="0"/>
          </a:p>
        </p:txBody>
      </p:sp>
      <p:pic>
        <p:nvPicPr>
          <p:cNvPr id="4" name="Picture 3" descr="IMG_2020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5442" y="3524314"/>
            <a:ext cx="2318244" cy="1738683"/>
          </a:xfrm>
          <a:prstGeom prst="rect">
            <a:avLst/>
          </a:prstGeom>
        </p:spPr>
      </p:pic>
      <p:pic>
        <p:nvPicPr>
          <p:cNvPr id="5" name="Picture 4" descr="IMG_2022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95503" y="3520619"/>
            <a:ext cx="2322469" cy="1741852"/>
          </a:xfrm>
          <a:prstGeom prst="rect">
            <a:avLst/>
          </a:prstGeom>
        </p:spPr>
      </p:pic>
      <p:pic>
        <p:nvPicPr>
          <p:cNvPr id="6" name="Picture 5" descr="IMG_2023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82403" y="3525738"/>
            <a:ext cx="2329636" cy="174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92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Dead tree and stump removals. Need to contact city.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Hawthorne Tree Cover Initiative</a:t>
            </a:r>
            <a:endParaRPr lang="en-US" dirty="0"/>
          </a:p>
        </p:txBody>
      </p:sp>
      <p:pic>
        <p:nvPicPr>
          <p:cNvPr id="4" name="Picture 3" descr="IMG_2026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6644" y="3113326"/>
            <a:ext cx="3101152" cy="2325864"/>
          </a:xfrm>
          <a:prstGeom prst="rect">
            <a:avLst/>
          </a:prstGeom>
        </p:spPr>
      </p:pic>
      <p:pic>
        <p:nvPicPr>
          <p:cNvPr id="5" name="Picture 4" descr="IMG_202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959508" y="3117462"/>
            <a:ext cx="3134240" cy="2350680"/>
          </a:xfrm>
          <a:prstGeom prst="rect">
            <a:avLst/>
          </a:prstGeom>
        </p:spPr>
      </p:pic>
      <p:pic>
        <p:nvPicPr>
          <p:cNvPr id="6" name="Picture 5" descr="IMG_2024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22986" y="3385246"/>
            <a:ext cx="3101153" cy="178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24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Arts Committee: The 1001 S Broad St. Art Installation and Opening Event, featuring local artists from our community and schools, is unfortunately postponed due to a temporary budget issue with buildings developers. The Arts Committee chaired by Kelly </a:t>
            </a:r>
            <a:r>
              <a:rPr lang="en-US" dirty="0" err="1" smtClean="0"/>
              <a:t>Korzun</a:t>
            </a:r>
            <a:r>
              <a:rPr lang="en-US" dirty="0" smtClean="0"/>
              <a:t> has been working hard for this event, but unfortunately is still awaiting the sidewalk to be finished. We will have an update soon. </a:t>
            </a:r>
          </a:p>
          <a:p>
            <a:endParaRPr lang="en-US" dirty="0"/>
          </a:p>
          <a:p>
            <a:r>
              <a:rPr lang="en-US" dirty="0" smtClean="0"/>
              <a:t>Zoning Committee: There are now HEC Zoning meetings for June or July. Meetings are being scheduled for August and </a:t>
            </a:r>
            <a:r>
              <a:rPr lang="en-US" dirty="0" smtClean="0"/>
              <a:t>September</a:t>
            </a:r>
          </a:p>
          <a:p>
            <a:pPr lvl="1"/>
            <a:r>
              <a:rPr lang="en-US" dirty="0" smtClean="0"/>
              <a:t>Upcoming Developments: 1101 Catherine Street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Committee Updates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08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en-US" dirty="0"/>
          </a:p>
          <a:p>
            <a:r>
              <a:rPr lang="en-US" dirty="0" smtClean="0"/>
              <a:t>Jazz at Hawthorne Park -&gt; Tonight! Featuring vocalist Kevin </a:t>
            </a:r>
            <a:r>
              <a:rPr lang="en-US" dirty="0" err="1" smtClean="0"/>
              <a:t>Velentine</a:t>
            </a:r>
            <a:r>
              <a:rPr lang="en-US" dirty="0" smtClean="0"/>
              <a:t> at </a:t>
            </a:r>
            <a:r>
              <a:rPr lang="en-US" dirty="0" smtClean="0"/>
              <a:t>7PM</a:t>
            </a:r>
          </a:p>
          <a:p>
            <a:endParaRPr lang="en-US" dirty="0"/>
          </a:p>
          <a:p>
            <a:r>
              <a:rPr lang="en-US" dirty="0" smtClean="0"/>
              <a:t>Movies in Hawthorne Park</a:t>
            </a:r>
          </a:p>
          <a:p>
            <a:pPr lvl="1"/>
            <a:r>
              <a:rPr lang="en-US" dirty="0" smtClean="0"/>
              <a:t>Friday, August 22</a:t>
            </a:r>
            <a:r>
              <a:rPr lang="en-US" baseline="30000" dirty="0" smtClean="0"/>
              <a:t>nd</a:t>
            </a:r>
            <a:r>
              <a:rPr lang="en-US" dirty="0" smtClean="0"/>
              <a:t> at 7:45PM. </a:t>
            </a:r>
            <a:r>
              <a:rPr lang="en-US" dirty="0" err="1" smtClean="0"/>
              <a:t>Moana</a:t>
            </a:r>
            <a:r>
              <a:rPr lang="en-US" dirty="0" smtClean="0"/>
              <a:t> 2.</a:t>
            </a:r>
          </a:p>
          <a:p>
            <a:pPr lvl="1"/>
            <a:r>
              <a:rPr lang="en-US" dirty="0" smtClean="0"/>
              <a:t>Friday, July 18</a:t>
            </a:r>
            <a:r>
              <a:rPr lang="en-US" baseline="30000" dirty="0" smtClean="0"/>
              <a:t>th</a:t>
            </a:r>
            <a:r>
              <a:rPr lang="en-US" dirty="0" smtClean="0"/>
              <a:t> at 8:30PM. Wicked.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806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/>
          </a:p>
          <a:p>
            <a:r>
              <a:rPr lang="en-US" dirty="0" smtClean="0"/>
              <a:t>Aaron </a:t>
            </a:r>
            <a:r>
              <a:rPr lang="en-US" dirty="0" smtClean="0"/>
              <a:t>Davis – </a:t>
            </a:r>
            <a:r>
              <a:rPr lang="en-US" dirty="0" smtClean="0"/>
              <a:t>SEPTA </a:t>
            </a:r>
            <a:r>
              <a:rPr lang="en-US" dirty="0" smtClean="0"/>
              <a:t>Update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Guest Speaker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153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id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Grid.thmx</Template>
  <TotalTime>120</TotalTime>
  <Words>1057</Words>
  <Application>Microsoft Macintosh PowerPoint</Application>
  <PresentationFormat>On-screen Show (4:3)</PresentationFormat>
  <Paragraphs>158</Paragraphs>
  <Slides>16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Grid</vt:lpstr>
      <vt:lpstr>Hawthorne Empowerment Coalition</vt:lpstr>
      <vt:lpstr>Interim Board</vt:lpstr>
      <vt:lpstr>Agenda</vt:lpstr>
      <vt:lpstr>Financial Report</vt:lpstr>
      <vt:lpstr>Financial Report</vt:lpstr>
      <vt:lpstr>Other Updates</vt:lpstr>
      <vt:lpstr>Bylaws</vt:lpstr>
      <vt:lpstr>Bylaws</vt:lpstr>
      <vt:lpstr>Bylaws</vt:lpstr>
      <vt:lpstr>Hawthorne Tree Cover Initiative</vt:lpstr>
      <vt:lpstr>Hawthorne Tree Cover Initiative</vt:lpstr>
      <vt:lpstr>Hawthorne Tree cover Initiative</vt:lpstr>
      <vt:lpstr>Hawthorne Tree Cover Initiative</vt:lpstr>
      <vt:lpstr>Committee Updates</vt:lpstr>
      <vt:lpstr>Events</vt:lpstr>
      <vt:lpstr>Guest Speaker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Hawthorne Empowerment Coalition</dc:title>
  <dc:creator>Greg  LaBier</dc:creator>
  <cp:lastModifiedBy>Greg  LaBier</cp:lastModifiedBy>
  <cp:revision>15</cp:revision>
  <dcterms:created xsi:type="dcterms:W3CDTF">2025-06-25T14:53:38Z</dcterms:created>
  <dcterms:modified xsi:type="dcterms:W3CDTF">2025-06-26T00:15:20Z</dcterms:modified>
</cp:coreProperties>
</file>